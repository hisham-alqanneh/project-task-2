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70" r:id="rId7"/>
    <p:sldId id="271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6450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50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0605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876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0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2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12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1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2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93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62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Bank Credit Classification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t>Predicting Credit Scores Using Machine Learning</a:t>
            </a:r>
          </a:p>
          <a:p>
            <a:r>
              <a:t>Team Member: Hisham Alqanneh</a:t>
            </a:r>
          </a:p>
          <a:p>
            <a:r>
              <a:t>Date: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Objective: Develop a classification model to predict bank credit scores</a:t>
            </a:r>
          </a:p>
          <a:p>
            <a:pPr lvl="1"/>
            <a:r>
              <a:rPr dirty="0"/>
              <a:t>Data Exploration &amp; Preprocessing</a:t>
            </a:r>
          </a:p>
          <a:p>
            <a:pPr lvl="1"/>
            <a:r>
              <a:rPr dirty="0"/>
              <a:t>Model Training (3+ algorithms)</a:t>
            </a:r>
          </a:p>
          <a:p>
            <a:pPr lvl="1"/>
            <a:r>
              <a:rPr dirty="0"/>
              <a:t>API Development (Flask)</a:t>
            </a:r>
          </a:p>
          <a:p>
            <a:pPr lvl="1"/>
            <a:r>
              <a:rPr dirty="0" err="1"/>
              <a:t>Streamlit</a:t>
            </a:r>
            <a:r>
              <a:rPr dirty="0"/>
              <a:t> Demo Application</a:t>
            </a:r>
          </a:p>
          <a:p>
            <a:pPr lvl="1"/>
            <a:r>
              <a:rPr dirty="0"/>
              <a:t>Full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Bank_Credit.xlsx</a:t>
            </a:r>
          </a:p>
          <a:p>
            <a:pPr lvl="1"/>
            <a:r>
              <a:t>Training Data: 98,800+ records</a:t>
            </a:r>
          </a:p>
          <a:p>
            <a:pPr lvl="1"/>
            <a:r>
              <a:t>Test Data: 1,000 records</a:t>
            </a:r>
          </a:p>
          <a:p>
            <a:pPr lvl="1"/>
            <a:r>
              <a:t>11 Predictive Features</a:t>
            </a:r>
          </a:p>
          <a:p>
            <a:pPr lvl="1"/>
            <a:r>
              <a:t>Target Variable: Credit_Score (3 classes)</a:t>
            </a:r>
          </a:p>
          <a:p>
            <a:pPr lvl="1"/>
            <a:r>
              <a:t>Numerical: Age, Annual_Income, Interest_Rate, Outstanding_Debt, etc.</a:t>
            </a:r>
          </a:p>
          <a:p>
            <a:pPr lvl="1"/>
            <a:r>
              <a:t>Categorical: Credit_Mix, Payment_of_Min_Amount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789" y="941772"/>
            <a:ext cx="7543800" cy="705091"/>
          </a:xfrm>
        </p:spPr>
        <p:txBody>
          <a:bodyPr>
            <a:normAutofit fontScale="90000"/>
          </a:bodyPr>
          <a:lstStyle/>
          <a:p>
            <a:r>
              <a:rPr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9788" y="1892868"/>
            <a:ext cx="7543801" cy="4023360"/>
          </a:xfrm>
        </p:spPr>
        <p:txBody>
          <a:bodyPr>
            <a:noAutofit/>
          </a:bodyPr>
          <a:lstStyle/>
          <a:p>
            <a:r>
              <a:rPr sz="2800" dirty="0"/>
              <a:t>Correlation Heatmap</a:t>
            </a:r>
          </a:p>
          <a:p>
            <a:pPr lvl="1"/>
            <a:r>
              <a:rPr sz="2400" dirty="0"/>
              <a:t>Identified high correlation between </a:t>
            </a:r>
            <a:r>
              <a:rPr sz="2400" dirty="0" err="1"/>
              <a:t>Annual_Income</a:t>
            </a:r>
            <a:r>
              <a:rPr sz="2400" dirty="0"/>
              <a:t> and </a:t>
            </a:r>
            <a:r>
              <a:rPr sz="2400" dirty="0" err="1"/>
              <a:t>Monthly_Inhand_Salary</a:t>
            </a:r>
            <a:endParaRPr sz="2400" dirty="0"/>
          </a:p>
          <a:p>
            <a:pPr lvl="1"/>
            <a:r>
              <a:rPr sz="2400" dirty="0"/>
              <a:t>Guided multicollinearity treatment using VIF analysis</a:t>
            </a:r>
          </a:p>
          <a:p>
            <a:pPr marL="201168" lvl="1" indent="0">
              <a:buNone/>
            </a:pPr>
            <a:r>
              <a:rPr sz="2800" dirty="0"/>
              <a:t>Interest Rate Distribution</a:t>
            </a:r>
          </a:p>
          <a:p>
            <a:pPr lvl="1"/>
            <a:r>
              <a:rPr sz="2400" dirty="0"/>
              <a:t>Concentrated between 5–11% with normal-like distribution</a:t>
            </a:r>
          </a:p>
          <a:p>
            <a:pPr marL="201168" lvl="1" indent="0">
              <a:buNone/>
            </a:pPr>
            <a:r>
              <a:rPr sz="2800" dirty="0"/>
              <a:t>Credit Score Distribution</a:t>
            </a:r>
          </a:p>
          <a:p>
            <a:pPr lvl="1"/>
            <a:r>
              <a:rPr sz="2400" dirty="0"/>
              <a:t>Standard: 53.17%, Poor: 29.03%, Good: 17.80%</a:t>
            </a:r>
          </a:p>
          <a:p>
            <a:pPr lvl="1"/>
            <a:r>
              <a:rPr sz="2400" dirty="0"/>
              <a:t>No severe class imbalance detected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4A11-F350-4A17-C52A-10EAAF6F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Heatmap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A237F6-37FC-F0B3-36CB-B43C192EEF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79" y="1162097"/>
            <a:ext cx="5429339" cy="48553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7DCD3E-89EF-A830-2C77-2D0D1C3EE12E}"/>
              </a:ext>
            </a:extLst>
          </p:cNvPr>
          <p:cNvSpPr txBox="1"/>
          <p:nvPr/>
        </p:nvSpPr>
        <p:spPr>
          <a:xfrm>
            <a:off x="5354425" y="1885361"/>
            <a:ext cx="3601040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Identified high correlation between </a:t>
            </a:r>
            <a:r>
              <a:rPr lang="en-US" sz="2000" dirty="0" err="1"/>
              <a:t>Annual_Income</a:t>
            </a:r>
            <a:r>
              <a:rPr lang="en-US" sz="2000" dirty="0"/>
              <a:t> and </a:t>
            </a:r>
            <a:r>
              <a:rPr lang="en-US" sz="2000" dirty="0" err="1"/>
              <a:t>Monthly_Inhand_Salary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Guided multicollinearity treatment using VIF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19837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F16E-075B-288D-E9DA-B62425CCA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729" y="439611"/>
            <a:ext cx="7543800" cy="1200329"/>
          </a:xfrm>
        </p:spPr>
        <p:txBody>
          <a:bodyPr>
            <a:normAutofit/>
          </a:bodyPr>
          <a:lstStyle/>
          <a:p>
            <a:r>
              <a:rPr lang="en-US" dirty="0"/>
              <a:t>Interest Rate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B4226F-0982-7E42-90C5-881AA157F7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06519"/>
            <a:ext cx="6207634" cy="3811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C416D8-5EA1-1705-21D4-CD162F87D095}"/>
              </a:ext>
            </a:extLst>
          </p:cNvPr>
          <p:cNvSpPr txBox="1"/>
          <p:nvPr/>
        </p:nvSpPr>
        <p:spPr>
          <a:xfrm>
            <a:off x="6344239" y="2006519"/>
            <a:ext cx="23755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Concentrated between 5–11% with normal-like distribution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57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85DD-044A-78BD-ED89-249CA841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309257"/>
            <a:ext cx="7543800" cy="1450757"/>
          </a:xfrm>
        </p:spPr>
        <p:txBody>
          <a:bodyPr/>
          <a:lstStyle/>
          <a:p>
            <a:r>
              <a:rPr lang="en-US" dirty="0"/>
              <a:t>Credit Score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59C16D-F911-1CEB-2BED-A128F132B6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755" y="1646892"/>
            <a:ext cx="6383410" cy="40227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A5C112-992D-6D6B-EA1E-497D0BC4D56F}"/>
              </a:ext>
            </a:extLst>
          </p:cNvPr>
          <p:cNvSpPr txBox="1"/>
          <p:nvPr/>
        </p:nvSpPr>
        <p:spPr>
          <a:xfrm>
            <a:off x="6315959" y="1920895"/>
            <a:ext cx="260179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Standard: 53.17%, Poor: 29.03%, Good: 17.80%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No severe class imbalance detected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51870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Removed 50 records with missing values (&lt;0.05% of data)</a:t>
            </a:r>
          </a:p>
          <a:p>
            <a:pPr lvl="1"/>
            <a:r>
              <a:t>Dropped ID column (non-predictive)</a:t>
            </a:r>
          </a:p>
          <a:p>
            <a:pPr lvl="1"/>
            <a:r>
              <a:t>One-Hot Encoding for categorical variables</a:t>
            </a:r>
          </a:p>
          <a:p>
            <a:pPr lvl="1"/>
            <a:r>
              <a:t>Binary flags for Credit_Mix and Payment_of_Min_Amount</a:t>
            </a:r>
          </a:p>
          <a:p>
            <a:pPr lvl="1"/>
            <a:r>
              <a:t>Applied StandardScaler to all numerical features</a:t>
            </a:r>
          </a:p>
          <a:p>
            <a:pPr lvl="1"/>
            <a:r>
              <a:t>Outlier analysis via box plots – outliers retained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Multicollinearity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Variance Inflation Factor (VIF) analysis performed</a:t>
            </a:r>
          </a:p>
          <a:p>
            <a:pPr lvl="1"/>
            <a:r>
              <a:t>Monthly_Inhand_Salary VIF &gt; 270</a:t>
            </a:r>
          </a:p>
          <a:p>
            <a:pPr lvl="1"/>
            <a:r>
              <a:t>Extreme multicollinearity with Annual_Income</a:t>
            </a:r>
          </a:p>
          <a:p>
            <a:pPr lvl="1"/>
            <a:r>
              <a:t>Removed Monthly_Inhand_Salary</a:t>
            </a:r>
          </a:p>
          <a:p>
            <a:pPr lvl="1"/>
            <a:r>
              <a:t>Final VIF scores &lt; 2.1 for all features</a:t>
            </a:r>
          </a:p>
          <a:p>
            <a:pPr lvl="1"/>
            <a:r>
              <a:t>Improved interpretability and reduced overfitting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 (Logistic Regression Variant)</a:t>
            </a:r>
          </a:p>
          <a:p>
            <a:pPr lvl="1"/>
            <a:r>
              <a:t>Baseline model with interpretability</a:t>
            </a:r>
          </a:p>
          <a:p>
            <a:pPr lvl="1"/>
            <a:r>
              <a:t>Two architectures tested</a:t>
            </a:r>
          </a:p>
          <a:p>
            <a:pPr lvl="1"/>
            <a:r>
              <a:t>XGBoost (Ensemble) – robust to non-linearity</a:t>
            </a:r>
          </a:p>
          <a:p>
            <a:pPr lvl="1"/>
            <a:r>
              <a:t>Random Forest (Ensemble) – handles high-dimensional data</a:t>
            </a:r>
          </a:p>
          <a:p>
            <a:pPr lvl="1"/>
            <a:r>
              <a:t>Evaluation: Accuracy, Precision, Recall, F1-Score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Neural Network 1: 2 hidden layers, 30 epochs – 67.47%</a:t>
            </a:r>
          </a:p>
          <a:p>
            <a:pPr lvl="1"/>
            <a:r>
              <a:t>Neural Network 2: 4 hidden layers, 50 epochs – 69.08%</a:t>
            </a:r>
          </a:p>
          <a:p>
            <a:pPr lvl="1"/>
            <a:r>
              <a:t>XGBoost 1: 100 estimators, depth=4 – 68.88%</a:t>
            </a:r>
          </a:p>
          <a:p>
            <a:pPr lvl="1"/>
            <a:r>
              <a:t>XGBoost 2: 300 estimators, depth=6 – 66.37%</a:t>
            </a:r>
          </a:p>
          <a:p>
            <a:pPr lvl="1"/>
            <a:r>
              <a:t>Random Forest (GridSearchCV) – 69.38%</a:t>
            </a:r>
          </a:p>
          <a:p>
            <a:pPr lvl="1"/>
            <a:r>
              <a:t>Best Model: Random Forest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Test Performance</a:t>
            </a:r>
          </a:p>
          <a:p>
            <a:pPr lvl="1"/>
            <a:r>
              <a:t>Accuracy: 69.38%</a:t>
            </a:r>
          </a:p>
          <a:p>
            <a:pPr lvl="1"/>
            <a:r>
              <a:t>Weighted F1-Score: 0.70</a:t>
            </a:r>
          </a:p>
          <a:p>
            <a:pPr lvl="1"/>
            <a:r>
              <a:t>Macro Precision: 0.68</a:t>
            </a:r>
          </a:p>
          <a:p>
            <a:pPr lvl="1"/>
            <a:r>
              <a:t>Good recall for 'Good' class: 79%</a:t>
            </a:r>
          </a:p>
          <a:p>
            <a:pPr lvl="1"/>
            <a:r>
              <a:t>5-fold Cross-Validation applied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Development (Flask)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Flask backend with CORS support</a:t>
            </a:r>
          </a:p>
          <a:p>
            <a:pPr lvl="1"/>
            <a:r>
              <a:t>RESTful API design</a:t>
            </a:r>
          </a:p>
          <a:p>
            <a:pPr lvl="1"/>
            <a:r>
              <a:t>POST /predict/logreg</a:t>
            </a:r>
          </a:p>
          <a:p>
            <a:pPr lvl="1"/>
            <a:r>
              <a:t>POST /predict/xgb</a:t>
            </a:r>
          </a:p>
          <a:p>
            <a:pPr lvl="1"/>
            <a:r>
              <a:t>POST /predict/rf</a:t>
            </a:r>
          </a:p>
          <a:p>
            <a:pPr lvl="1"/>
            <a:r>
              <a:t>Input: JSON feature array</a:t>
            </a:r>
          </a:p>
          <a:p>
            <a:pPr lvl="1"/>
            <a:r>
              <a:t>Output: Class probabilities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Frontend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Prediction Demo page</a:t>
            </a:r>
          </a:p>
          <a:p>
            <a:pPr lvl="1"/>
            <a:r>
              <a:t>Model selection and feature input</a:t>
            </a:r>
          </a:p>
          <a:p>
            <a:pPr lvl="1"/>
            <a:r>
              <a:t>Real-time Flask API calls</a:t>
            </a:r>
          </a:p>
          <a:p>
            <a:pPr lvl="1"/>
            <a:r>
              <a:t>Training Results Dashboard</a:t>
            </a:r>
          </a:p>
          <a:p>
            <a:pPr lvl="1"/>
            <a:r>
              <a:t>Accuracy/Loss visualization</a:t>
            </a:r>
          </a:p>
          <a:p>
            <a:pPr lvl="1"/>
            <a:r>
              <a:t>CSV-based metric display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1EACF-6BEC-4404-40DA-8548D9C4E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952" y="1966587"/>
            <a:ext cx="5081047" cy="20826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B6982-9A15-5A56-1CA1-7DAA4F94D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952" y="4049202"/>
            <a:ext cx="4845377" cy="20373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Code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r>
              <a:rPr lang="en-US" dirty="0"/>
              <a:t> </a:t>
            </a:r>
            <a:r>
              <a:rPr dirty="0"/>
              <a:t>for training</a:t>
            </a:r>
          </a:p>
          <a:p>
            <a:pPr lvl="1"/>
            <a:r>
              <a:rPr dirty="0"/>
              <a:t>Flask backend</a:t>
            </a:r>
          </a:p>
          <a:p>
            <a:pPr lvl="1"/>
            <a:r>
              <a:rPr dirty="0" err="1"/>
              <a:t>Streamlit</a:t>
            </a:r>
            <a:r>
              <a:rPr dirty="0"/>
              <a:t> frontend</a:t>
            </a:r>
          </a:p>
          <a:p>
            <a:pPr lvl="1"/>
            <a:r>
              <a:rPr dirty="0"/>
              <a:t>Saved model files</a:t>
            </a:r>
          </a:p>
          <a:p>
            <a:pPr lvl="1"/>
            <a:r>
              <a:rPr dirty="0"/>
              <a:t>Version control using GitHub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Technical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Income features highly correlated</a:t>
            </a:r>
          </a:p>
          <a:p>
            <a:pPr lvl="1"/>
            <a:r>
              <a:t>No need for class balancing</a:t>
            </a:r>
          </a:p>
          <a:p>
            <a:pPr lvl="1"/>
            <a:r>
              <a:t>Random Forest outperformed deep models</a:t>
            </a:r>
          </a:p>
          <a:p>
            <a:pPr lvl="1"/>
            <a:r>
              <a:t>Feature engineering more impactful than depth</a:t>
            </a:r>
          </a:p>
          <a:p>
            <a:pPr lvl="1"/>
            <a:r>
              <a:t>Flask is lightweight and scalable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</TotalTime>
  <Words>569</Words>
  <Application>Microsoft Office PowerPoint</Application>
  <PresentationFormat>On-screen Show (4:3)</PresentationFormat>
  <Paragraphs>98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Retrospect</vt:lpstr>
      <vt:lpstr>Bank Credit Classification Project</vt:lpstr>
      <vt:lpstr>Project Overview</vt:lpstr>
      <vt:lpstr>Data Sources &amp; Structure</vt:lpstr>
      <vt:lpstr>Exploratory Data Analysis</vt:lpstr>
      <vt:lpstr>Correlation Heatmap </vt:lpstr>
      <vt:lpstr>Interest Rate Distribution</vt:lpstr>
      <vt:lpstr>Credit Score Distribution</vt:lpstr>
      <vt:lpstr>Data Preprocessing Pipeline</vt:lpstr>
      <vt:lpstr>Multicollinearity Treatment</vt:lpstr>
      <vt:lpstr>Model Selection Rationale</vt:lpstr>
      <vt:lpstr>Model Training Results</vt:lpstr>
      <vt:lpstr>Model Evaluation Metrics</vt:lpstr>
      <vt:lpstr>API Development (Flask)</vt:lpstr>
      <vt:lpstr>Streamlit Frontend Application</vt:lpstr>
      <vt:lpstr>Deployment &amp; Code Structure</vt:lpstr>
      <vt:lpstr>Key Technical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Hesham Nader</dc:creator>
  <cp:keywords/>
  <dc:description>generated using python-pptx</dc:description>
  <cp:lastModifiedBy>Hisham Al-Qanneh</cp:lastModifiedBy>
  <cp:revision>2</cp:revision>
  <dcterms:created xsi:type="dcterms:W3CDTF">2013-01-27T09:14:16Z</dcterms:created>
  <dcterms:modified xsi:type="dcterms:W3CDTF">2025-12-18T10:09:27Z</dcterms:modified>
  <cp:category/>
</cp:coreProperties>
</file>